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102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57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457200" y="852854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INTELLIGENT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SEWER MONITORING AND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RISK EARLY-WARNING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8739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35569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BHUVANAN M   |   ARAVINTH R   |   AMBIKA B   |   DHARANESHWARAN B</a:t>
            </a:r>
            <a:endParaRPr lang="en-US" sz="120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A90FF261-7C29-A58C-88EE-EE9E61F86223}"/>
              </a:ext>
            </a:extLst>
          </p:cNvPr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C59AA148-36C4-17A7-5EB1-37B29C8E9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86730"/>
            <a:ext cx="2743200" cy="2286000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651D32F0-AE29-FD22-25CA-C5DF8283E17F}"/>
              </a:ext>
            </a:extLst>
          </p:cNvPr>
          <p:cNvSpPr/>
          <p:nvPr/>
        </p:nvSpPr>
        <p:spPr>
          <a:xfrm>
            <a:off x="0" y="4480560"/>
            <a:ext cx="90473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 INSTITUTE OF TECHNOLOGY                                                                                               TEAM - 9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62601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5548" y="637266"/>
            <a:ext cx="8292904" cy="776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IOT-ENABLED INTELLIGENT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SEWER MONITORING AND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FLOOD RISK EARLY-WARNING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69693" y="1688124"/>
            <a:ext cx="5120640" cy="301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Objective: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continuously monitor drainage and sewage conditions using real-time IoT sensor data for early blockage and flood-risk warning.
</a:t>
            </a: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Solution: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integrated system using an ESP8266 NodeMCU, HC-SR04 ultrasonic sensor, YF-S201 water-flow sensor, rain sensor module, I2C LCD, and a Wi-Fi web dashboard.
</a:t>
            </a: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Impact: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manual inspection, enables early detection of blockage and overflow, and supports timely preventive maintenance for safer urban drainage.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assets/cad_isometric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774" y="1580233"/>
            <a:ext cx="2257865" cy="17116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06440" y="3332815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ISOMETRIC VIEW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assets/prototype_phot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775" y="3602390"/>
            <a:ext cx="2148840" cy="12070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57394" y="48463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PROTOTYPE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FF3ED39B-A340-72DF-BBBC-28A7CF8D5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Engineering Design Process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496312" y="1554480"/>
            <a:ext cx="914400" cy="91440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96312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2313432" y="17922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Identification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10712" y="1956816"/>
            <a:ext cx="164592" cy="109728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75304" y="1554480"/>
            <a:ext cx="914400" cy="914400"/>
          </a:xfrm>
          <a:prstGeom prst="ellipse">
            <a:avLst/>
          </a:prstGeom>
          <a:solidFill>
            <a:srgbClr val="5B9B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75304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3410712" y="18105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Requirement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Analysis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489704" y="1956816"/>
            <a:ext cx="164592" cy="109728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54296" y="1554480"/>
            <a:ext cx="914400" cy="914400"/>
          </a:xfrm>
          <a:prstGeom prst="ellipse">
            <a:avLst/>
          </a:prstGeom>
          <a:solidFill>
            <a:srgbClr val="70AD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54296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4471416" y="17556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Concept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568696" y="1956816"/>
            <a:ext cx="164592" cy="109728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33288" y="1554480"/>
            <a:ext cx="914400" cy="914400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733288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5586984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496312" y="3246120"/>
            <a:ext cx="914400" cy="91440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496312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2313432" y="34427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Prototype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410712" y="3648456"/>
            <a:ext cx="164592" cy="109728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75304" y="3246120"/>
            <a:ext cx="914400" cy="914400"/>
          </a:xfrm>
          <a:prstGeom prst="ellipse">
            <a:avLst/>
          </a:prstGeom>
          <a:solidFill>
            <a:srgbClr val="A5A5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75304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3410712" y="35199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&amp;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489704" y="3648456"/>
            <a:ext cx="164592" cy="109728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54296" y="3246120"/>
            <a:ext cx="914400" cy="914400"/>
          </a:xfrm>
          <a:prstGeom prst="ellipse">
            <a:avLst/>
          </a:prstGeom>
          <a:solidFill>
            <a:srgbClr val="9DC3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654296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4471416" y="34427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Optimization</a:t>
            </a:r>
            <a:endParaRPr lang="en-US" sz="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568696" y="3648456"/>
            <a:ext cx="164592" cy="109728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33288" y="3246120"/>
            <a:ext cx="914400" cy="914400"/>
          </a:xfrm>
          <a:prstGeom prst="ellipse">
            <a:avLst/>
          </a:prstGeom>
          <a:solidFill>
            <a:srgbClr val="70AD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733288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 txBox="1"/>
          <p:nvPr/>
        </p:nvSpPr>
        <p:spPr>
          <a:xfrm>
            <a:off x="5559552" y="348131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A7A594A0-8A8E-417C-0F78-AB6B6A3B1F23}"/>
              </a:ext>
            </a:extLst>
          </p:cNvPr>
          <p:cNvSpPr/>
          <p:nvPr/>
        </p:nvSpPr>
        <p:spPr>
          <a:xfrm>
            <a:off x="2897945" y="2630658"/>
            <a:ext cx="133643" cy="441726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1195B841-B387-5344-546E-5764FBD71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5322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 Table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736405"/>
              </p:ext>
            </p:extLst>
          </p:nvPr>
        </p:nvGraphicFramePr>
        <p:xfrm>
          <a:off x="365760" y="1392702"/>
          <a:ext cx="8412480" cy="338328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Phase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Outcome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Water-Level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Sensing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Ultrasonic sensor (HC-SR04) measures distance to the water surface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Water level data sent to ESP8266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Flow Sensing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YF-S201 flow sensor generates pulses proportional to water movement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Flow rate calculated; restriction identified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Rain Sensing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Rain sensor detects water droplets on its sensing plate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Rainfall status identified for flood-risk check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Processing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ESP8266 compares sensor readings with predefined threshold values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Drainage status determined (Normal / Blockage / Overflow)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 Display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16×2 I2C LCD shows water level, flow, rain status, and system status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Real-time local monitoring enabled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Remote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Monitoring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ESP8266 sends processed data to the web dashboard over Wi-Fi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Remote monitoring and warning alerts via dashboard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4680F39A-4864-5397-4369-5CE18FC5B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 INSTITUTE OF TECHNOLOGY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List of Activities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09490" y="1230923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Survey: 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Reviewed existing IoT-based drainage and flood monitoring systems and identified research gaps.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Component Selection &amp; Procurement: 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Selected ESP8266, HC-SR04, YF-S201, rain sensor, and LCD based on cost, accuracy, and compatibility.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Circuit Design &amp; Assembly: 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Interfaced all sensors with the ESP8266 NodeMCU and assembled the wiring on the prototype.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Firmware Development: 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Programmed the ESP8266 using Arduino IDE with threshold-based condition logic.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Development: 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a web-based dashboard for live monitoring, warning display, and CSV data export.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Prototype Fabrication &amp; Testing: 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the drainage-channel prototype and validated it under normal, blockage, overflow, and rainfall conditions.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assets/prototype_phot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54480"/>
            <a:ext cx="2651760" cy="2971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89320" y="4572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PROTOTYPE BUILD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A1868BB6-C3E9-DE3F-2B80-F5212021C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 Duration Table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451515"/>
              </p:ext>
            </p:extLst>
          </p:nvPr>
        </p:nvGraphicFramePr>
        <p:xfrm>
          <a:off x="548640" y="1371600"/>
          <a:ext cx="8046720" cy="33832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Activity ID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Task Description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Duration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A1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Literature Survey &amp; Requirement Gathering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 Week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A2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Component Selection &amp; Procurement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 Week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A3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Sensor Interfacing &amp; Circuit Wiring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A4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Arduino IDE Programming &amp; Threshold Logic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A5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Web Dashboard Development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A6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Prototype Fabrication &amp; Assembly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A7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System Integration &amp; Testing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5F858052-6EE4-40E0-A5D4-36DDE4C9D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 Precedence Table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808550"/>
              </p:ext>
            </p:extLst>
          </p:nvPr>
        </p:nvGraphicFramePr>
        <p:xfrm>
          <a:off x="365760" y="1371600"/>
          <a:ext cx="8412480" cy="33832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Preceded By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Logic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Component Procurement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Literature Survey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Requirements must be finalized before ordering parts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Circuit Wiring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Component Procurement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Components must be available before assembly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Firmware Programming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Circuit Wiring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Hardware must be wired before code can be tested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Dashboard Development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Firmware Programming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 format must be defined before building the dashboard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Prototype Fabrication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Circuit Wiring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Physical structure is built around the wired components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System Testing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Dashboard Development,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Prototype Fabrication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Integration testing follows once all subsystems are ready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46A09F69-4AF4-1E2E-7D0D-28E89B2C5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Glossary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6576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(Internet of Things):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2834640" y="1417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 of physical devices connected for real-time data exchange over the internet.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65760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ESP8266: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2834640" y="19842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Low-cost Wi-Fi enabled microcontroller used as the main control and communication unit.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365760" y="25511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HC-SR04: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2834640" y="2551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Ultrasonic distance sensor used to measure the water level inside the drainage channel.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365760" y="31181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YF-S201: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2834640" y="31181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Hall-effect water-flow sensor that generates pulses proportional to the flow rate.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65760" y="3685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Rain Sensor Module: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2834640" y="3685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that detects the presence and intensity of rainfall for flood-risk assessment.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36576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Threshold Value: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2834640" y="4251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Predefined limit used by the ESP8266 to classify drainage conditions as normal or abnormal.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028A5520-C86D-A5F5-93FB-4F160C20D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Science Principles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444752"/>
            <a:ext cx="54864" cy="594360"/>
          </a:xfrm>
          <a:prstGeom prst="rect">
            <a:avLst/>
          </a:prstGeom>
          <a:solidFill>
            <a:srgbClr val="2E75D4"/>
          </a:solidFill>
          <a:ln w="12700">
            <a:solidFill>
              <a:srgbClr val="2E75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417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Ultrasonic Echo Principle: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94360" y="17099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Distance is measured from the time taken for a transmitted ultrasonic wave to reflect off the water surface and return to the sensor.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2286000"/>
            <a:ext cx="54864" cy="594360"/>
          </a:xfrm>
          <a:prstGeom prst="rect">
            <a:avLst/>
          </a:prstGeom>
          <a:solidFill>
            <a:srgbClr val="2E75D4"/>
          </a:solidFill>
          <a:ln w="12700">
            <a:solidFill>
              <a:srgbClr val="2E75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2585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Hall-Effect Sensing: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94360" y="25511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rotor inside the flow sensor generates electrical pulses proportional to the rate of water flow as it turns.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5760" y="3127248"/>
            <a:ext cx="54864" cy="594360"/>
          </a:xfrm>
          <a:prstGeom prst="rect">
            <a:avLst/>
          </a:prstGeom>
          <a:solidFill>
            <a:srgbClr val="2E75D4"/>
          </a:solidFill>
          <a:ln w="12700">
            <a:solidFill>
              <a:srgbClr val="2E75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30998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Conductivity-Based Sensing: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594360" y="339242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rain sensor's output changes as water bridges the conductive tracks on its exposed sensing plate.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65760" y="3968496"/>
            <a:ext cx="54864" cy="594360"/>
          </a:xfrm>
          <a:prstGeom prst="rect">
            <a:avLst/>
          </a:prstGeom>
          <a:solidFill>
            <a:srgbClr val="2E75D4"/>
          </a:solidFill>
          <a:ln w="12700">
            <a:solidFill>
              <a:srgbClr val="2E75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9410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Wireless Communication: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594360" y="42336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ESP8266 uses 802.11 Wi-Fi (TCP/IP) to transmit sensor data to the web dashboard in real time.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05F32792-9EAA-762E-7772-75C0E0405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Concept Rules &amp; Laws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Threshold Rule: 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warning is triggered only when water level or flow rate crosses a predefined critical limit.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Automation Rule: 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→ ESP8266 → LCD/Dashboard data flow requires no manual intervention.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Feedback Monitoring Law: 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Continuous sensor feedback allows the system to reclassify drainage status in real time as conditions change.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Data Principle: 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sensor data streams continuously to the web dashboard for remote access, warnings, and CSV logging.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A845A6C4-BFF8-DFB9-BC3A-534BF5108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Constants &amp; Variables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3931920" cy="41148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CONSTANTS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3931920" cy="41148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VARIABLES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2013DEF3-65C8-9862-5CD4-867222E35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17" name="Shape 4">
            <a:extLst>
              <a:ext uri="{FF2B5EF4-FFF2-40B4-BE49-F238E27FC236}">
                <a16:creationId xmlns:a16="http://schemas.microsoft.com/office/drawing/2014/main" id="{EE815643-A8CE-6F73-F3B6-48A154FB2FEE}"/>
              </a:ext>
            </a:extLst>
          </p:cNvPr>
          <p:cNvSpPr/>
          <p:nvPr/>
        </p:nvSpPr>
        <p:spPr>
          <a:xfrm>
            <a:off x="365759" y="1794511"/>
            <a:ext cx="3931919" cy="3040380"/>
          </a:xfrm>
          <a:prstGeom prst="rect">
            <a:avLst/>
          </a:prstGeom>
          <a:solidFill>
            <a:srgbClr val="EEF4FF"/>
          </a:solidFill>
          <a:ln w="19050">
            <a:solidFill>
              <a:srgbClr val="1557B0"/>
            </a:solidFill>
            <a:prstDash val="solid"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A073A7-6454-A9F3-C2C9-97B64364D1CD}"/>
              </a:ext>
            </a:extLst>
          </p:cNvPr>
          <p:cNvSpPr txBox="1"/>
          <p:nvPr/>
        </p:nvSpPr>
        <p:spPr>
          <a:xfrm>
            <a:off x="576775" y="1965960"/>
            <a:ext cx="3608363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ESP8266 Clock Speed: 80 MHz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Supply Voltage: 3.3 – 5 V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HC-SR04 Operating Voltage: 5 V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LCD Size: 16 × 2 (I2C interface)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Project Cost: ₹ 2,820 (approx.)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1074C063-5522-1F48-4B53-F560DD261B81}"/>
              </a:ext>
            </a:extLst>
          </p:cNvPr>
          <p:cNvSpPr/>
          <p:nvPr/>
        </p:nvSpPr>
        <p:spPr>
          <a:xfrm>
            <a:off x="4663441" y="1828800"/>
            <a:ext cx="3917852" cy="2940148"/>
          </a:xfrm>
          <a:prstGeom prst="rect">
            <a:avLst/>
          </a:prstGeom>
          <a:solidFill>
            <a:srgbClr val="EEF4FF"/>
          </a:solidFill>
          <a:ln w="19050">
            <a:solidFill>
              <a:srgbClr val="1557B0"/>
            </a:solidFill>
            <a:prstDash val="solid"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DF61C1-F964-866D-7CEC-FA48140DE1DE}"/>
              </a:ext>
            </a:extLst>
          </p:cNvPr>
          <p:cNvSpPr txBox="1"/>
          <p:nvPr/>
        </p:nvSpPr>
        <p:spPr>
          <a:xfrm>
            <a:off x="4744328" y="1888231"/>
            <a:ext cx="3903785" cy="2113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 Level (cm): varies with drainage condition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Flow Rate (L/min): changes with water movement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Rainfall Status: ON / OFF from rain sensor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Drainage Status: Normal / No Flow / Blockage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Overflow / Flood Risk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Equations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Logic Model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02920" y="1719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Sensor Readings → ESP8266 Processing → Threshold Check → LCD / Dashboard Update → Warning Trigger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57200" y="21488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Water-Level Calculation:  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 Level = Sensor Mounting Height − Measured Distance (from HC-SR04 echo time)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57200" y="28072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Blockage Decision:  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(Water Level &gt; High Threshold) AND (Flow Rate &lt; Low Threshold) THEN Blockage Warning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457200" y="34655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Flood-Risk Decision:  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(Water Level &gt; Critical Threshold) AND (Rain = Detected) THEN Flood-Risk Alert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57200" y="412394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Accuracy (tested):  </a:t>
            </a: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Water-level measurement accuracy ≈ ± 0.2 cm (Table 8.1 trial results)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B9E20970-1C19-9B0A-F64A-02F260AC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What-If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8412480" cy="841248"/>
          </a:xfrm>
          <a:prstGeom prst="roundRect">
            <a:avLst>
              <a:gd name="adj" fmla="val 5435"/>
            </a:avLst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4447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Q1: What if Wi-Fi disconnects?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48640" y="173736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continues local operation; the LCD keeps displaying live readings while the ESP8266 automatically retries the connection.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2304288"/>
            <a:ext cx="8412480" cy="841248"/>
          </a:xfrm>
          <a:prstGeom prst="roundRect">
            <a:avLst>
              <a:gd name="adj" fmla="val 5435"/>
            </a:avLst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Q2: What if a sensor gives a faulty reading?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48640" y="2670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Threshold-based logic reduces false alarms; the affected sensor should be inspected and recalibrated periodically.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5760" y="3236976"/>
            <a:ext cx="8412480" cy="841248"/>
          </a:xfrm>
          <a:prstGeom prst="roundRect">
            <a:avLst>
              <a:gd name="adj" fmla="val 5435"/>
            </a:avLst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Q3: What if the power supply fails?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548640" y="360273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Monitoring stops until power is restored; a battery backup can be added to prevent gaps in monitoring.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65760" y="4169664"/>
            <a:ext cx="8412480" cy="841248"/>
          </a:xfrm>
          <a:prstGeom prst="roundRect">
            <a:avLst>
              <a:gd name="adj" fmla="val 5435"/>
            </a:avLst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2428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Q4: What if the drainage size or flow rate changes?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548640" y="453542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Threshold values in the firmware can be updated for different pipe or channel dimensions.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04A2A67C-211C-FB35-5DD9-91AAE7E2A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3252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269609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IoT-Enabled Intelligent Sewer Monitoring and Flood Risk Early-Warning System successfully demonstrates a low-cost, real-time drainage monitoring approach using an ESP8266 NodeMCU with ultrasonic, water-flow, and rain sensors. The prototype accurately measures water level, detects flow restrictions, and identifies rainfall to classify drainage status as Normal, No Flow, Blockage, Overflow, or Flood Risk. A 16×2 I2C LCD provides local monitoring, while a Wi-Fi web dashboard delivers live readings, graphs, warning alerts, and CSV data export for remote </a:t>
            </a:r>
            <a:r>
              <a:rPr lang="en-US" sz="13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monitoring.Testing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confirmed reliable detection of blockage and overflow conditions, validating the system as a practical, scalable foundation for smart-city drainage and flood-prevention networks.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assets/dashboard_screensho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3044600"/>
            <a:ext cx="4480560" cy="13856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D57B44CE-0E92-D0D6-F447-7501AB106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1318</Words>
  <Application>Microsoft Office PowerPoint</Application>
  <PresentationFormat>On-screen Show (16:9)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Dharaneshwaran B</cp:lastModifiedBy>
  <cp:revision>3</cp:revision>
  <dcterms:created xsi:type="dcterms:W3CDTF">2026-09-10T07:01:58Z</dcterms:created>
  <dcterms:modified xsi:type="dcterms:W3CDTF">2026-09-10T09:48:20Z</dcterms:modified>
</cp:coreProperties>
</file>